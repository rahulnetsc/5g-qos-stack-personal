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0">
                <a:solidFill>
                  <a:srgbClr val="5C5B54"/>
                </a:solidFill>
                <a:latin typeface="Calibri"/>
              </a:rPr>
              <a:t>Worst-served GBR flow (% of contract)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Proportional Fair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Sheet1!$A$2:$A$5</c:f>
              <c:strCache>
                <c:ptCount val="4"/>
                <c:pt idx="0">
                  <c:v>1.00x</c:v>
                </c:pt>
                <c:pt idx="1">
                  <c:v>0.67x</c:v>
                </c:pt>
                <c:pt idx="2">
                  <c:v>0.50x</c:v>
                </c:pt>
                <c:pt idx="3">
                  <c:v>0.33x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21</c:v>
                </c:pt>
                <c:pt idx="2">
                  <c:v>52</c:v>
                </c:pt>
                <c:pt idx="3">
                  <c:v>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Two-tier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Sheet1!$A$2:$A$5</c:f>
              <c:strCache>
                <c:ptCount val="4"/>
                <c:pt idx="0">
                  <c:v>1.00x</c:v>
                </c:pt>
                <c:pt idx="1">
                  <c:v>0.67x</c:v>
                </c:pt>
                <c:pt idx="2">
                  <c:v>0.50x</c:v>
                </c:pt>
                <c:pt idx="3">
                  <c:v>0.33x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44</c:v>
                </c:pt>
                <c:pt idx="1">
                  <c:v>67</c:v>
                </c:pt>
                <c:pt idx="2">
                  <c:v>81</c:v>
                </c:pt>
                <c:pt idx="3">
                  <c:v>83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8A898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100">
                <a:solidFill>
                  <a:srgbClr val="8A898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>
              <a:solidFill>
                <a:srgbClr val="5C5B54"/>
              </a:solidFill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45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3600" b="1">
                <a:solidFill>
                  <a:srgbClr val="1A1A19"/>
                </a:solidFill>
                <a:latin typeface="Calibri"/>
              </a:rPr>
              <a:t>Design of a Two-Tier QoS-Aware Scheduler
for Private 5G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657600"/>
            <a:ext cx="2011680" cy="381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931920"/>
            <a:ext cx="10545775" cy="1202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0">
                <a:solidFill>
                  <a:srgbClr val="5C5B54"/>
                </a:solidFill>
                <a:latin typeface="Calibri"/>
              </a:rPr>
              <a:t>A convex rate planner on a ~1 s horizon, over a per-slot drift-plus-penalty tracker.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0">
                <a:solidFill>
                  <a:srgbClr val="5C5B54"/>
                </a:solidFill>
                <a:latin typeface="Calibri"/>
              </a:rPr>
              <a:t>Motivation, design, and simulation results against the scheduler OpenAirInterface ships — with what remains to land it on hardware.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8A8980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13816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A19"/>
                </a:solidFill>
                <a:latin typeface="Calibri"/>
              </a:rPr>
              <a:t>The factory floor asks for three different things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0545775" cy="15875"/>
          </a:xfrm>
          <a:prstGeom prst="rect">
            <a:avLst/>
          </a:prstGeom>
          <a:solidFill>
            <a:srgbClr val="DD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5775" cy="739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5C5B54"/>
                </a:solidFill>
                <a:latin typeface="Calibri"/>
              </a:rPr>
              <a:t>One private 5G cell, one carrier, and traffic classes that differ in kind rather than in volume: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778252"/>
          <a:ext cx="10545774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4677"/>
                <a:gridCol w="3215175"/>
                <a:gridCol w="2572140"/>
                <a:gridCol w="3343782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A19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A19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A19"/>
                          </a:solidFill>
                          <a:latin typeface="Calibri"/>
                        </a:rPr>
                        <a:t>What it needs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A19"/>
                          </a:solidFill>
                          <a:latin typeface="Calibri"/>
                        </a:rPr>
                        <a:t>How you know it failed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GBR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Robot camera and LIDAR uplink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A sustained rate floor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Dropped frames, blind robot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Delay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Motion control, teleoperation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Bytes before a deadline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A late command — a safety event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Best-effort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Firmware push, log upload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Whatever is left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Slower; nobody notices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4296156"/>
            <a:ext cx="10545775" cy="1325879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296156"/>
            <a:ext cx="50800" cy="1325879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433316"/>
            <a:ext cx="10088575" cy="1051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9"/>
                </a:solidFill>
                <a:latin typeface="Calibri"/>
              </a:rPr>
              <a:t>OpenAirInterface's NR MAC schedules with a </a:t>
            </a:r>
            <a:r>
              <a:rPr sz="1600" b="1">
                <a:solidFill>
                  <a:srgbClr val="1A1A19"/>
                </a:solidFill>
                <a:latin typeface="Calibri"/>
              </a:rPr>
              <a:t>proportional-fair metric over per-UE grants</a:t>
            </a:r>
            <a:r>
              <a:rPr sz="1600" b="0">
                <a:solidFill>
                  <a:srgbClr val="1A1A19"/>
                </a:solidFill>
                <a:latin typeface="Calibri"/>
              </a:rPr>
              <a:t>. PF has no term for a rate contract, no term for a deadline, and no configured-grant path for periodic traffic. It is a good answer to a question the factory is not asking.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96355"/>
            <a:ext cx="10545775" cy="665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8A8980"/>
                </a:solidFill>
                <a:latin typeface="Calibri"/>
              </a:rPr>
              <a:t>A robot whose video is switched off entirely is a failure in a way a uniformly degraded fleet is not — a distinction a throughput-fair metric cannot see, let alone act 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8A8980"/>
                </a:solidFill>
                <a:latin typeface="Calibri"/>
              </a:rPr>
              <a:t>INFORMING THE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13816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A19"/>
                </a:solidFill>
                <a:latin typeface="Calibri"/>
              </a:rPr>
              <a:t>What the prior art told us to do — and not to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0545775" cy="15875"/>
          </a:xfrm>
          <a:prstGeom prst="rect">
            <a:avLst/>
          </a:prstGeom>
          <a:solidFill>
            <a:srgbClr val="DD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19072"/>
            <a:ext cx="5394960" cy="3750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008300"/>
                </a:solidFill>
                <a:latin typeface="Calibri"/>
              </a:rPr>
              <a:t>Adopted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5C5B54"/>
                </a:solidFill>
                <a:latin typeface="Calibri"/>
              </a:rPr>
              <a:t>Two timescales.</a:t>
            </a:r>
            <a:r>
              <a:rPr sz="1500" b="0">
                <a:solidFill>
                  <a:srgbClr val="5C5B54"/>
                </a:solidFill>
                <a:latin typeface="Calibri"/>
              </a:rPr>
              <a:t> A slow declarative program over a fast per-slot controller — the pattern behind NVS (Kokku 2012) and the O-RAN RIC split. We instantiate it; we do not claim it.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5C5B54"/>
                </a:solidFill>
                <a:latin typeface="Calibri"/>
              </a:rPr>
              <a:t>Network utility maximisation</a:t>
            </a:r>
            <a:r>
              <a:rPr sz="1500" b="0">
                <a:solidFill>
                  <a:srgbClr val="5C5B54"/>
                </a:solidFill>
                <a:latin typeface="Calibri"/>
              </a:rPr>
              <a:t> (Kelly 1998) for the slow tier — an objective a plant engineer can read and audit.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5C5B54"/>
                </a:solidFill>
                <a:latin typeface="Calibri"/>
              </a:rPr>
              <a:t>Drift-plus-penalty</a:t>
            </a:r>
            <a:r>
              <a:rPr sz="1500" b="0">
                <a:solidFill>
                  <a:srgbClr val="5C5B54"/>
                </a:solidFill>
                <a:latin typeface="Calibri"/>
              </a:rPr>
              <a:t> (Neely 2010) for the fast tier — it solves the per-slot problem, and needs a target, which Tier-1 supplies.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5C5B54"/>
                </a:solidFill>
                <a:latin typeface="Calibri"/>
              </a:rPr>
              <a:t>Configured grants</a:t>
            </a:r>
            <a:r>
              <a:rPr sz="1500" b="0">
                <a:solidFill>
                  <a:srgbClr val="5C5B54"/>
                </a:solidFill>
                <a:latin typeface="Calibri"/>
              </a:rPr>
              <a:t> dominate latency for time-critical industrial traffic (Larrañaga 2023, ns-3 / 5G-LENA).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719072"/>
            <a:ext cx="4846320" cy="3322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800" b="1">
                <a:solidFill>
                  <a:srgbClr val="E34948"/>
                </a:solidFill>
                <a:latin typeface="Calibri"/>
              </a:rPr>
              <a:t>Ruled out, and why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5C5B54"/>
                </a:solidFill>
                <a:latin typeface="Calibri"/>
              </a:rPr>
              <a:t>Tuned PF variants</a:t>
            </a:r>
            <a:r>
              <a:rPr sz="1500" b="0">
                <a:solidFill>
                  <a:srgbClr val="5C5B54"/>
                </a:solidFill>
                <a:latin typeface="Calibri"/>
              </a:rPr>
              <a:t> — M-LWDF, Exp-rule. Excellent on delay; on rate they saturate, because a multiplicative deficit weight equalises a weighted 1/R_avg and cannot reach an arbitrary unequal target. Monghal (2008) measured exactly that.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5C5B54"/>
                </a:solidFill>
                <a:latin typeface="Calibri"/>
              </a:rPr>
              <a:t>Learned schedulers.</a:t>
            </a:r>
            <a:r>
              <a:rPr sz="1500" b="0">
                <a:solidFill>
                  <a:srgbClr val="5C5B54"/>
                </a:solidFill>
                <a:latin typeface="Calibri"/>
              </a:rPr>
              <a:t> Kela (2024), arguing from inside that literature, finds deployable deep schedulers do not yet exist — real-time cost, 3GPP compliance, and poor generalisation across bandwidth and traffic mix.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771768"/>
            <a:ext cx="10545775" cy="103124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771768"/>
            <a:ext cx="50800" cy="103124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908928"/>
            <a:ext cx="10088575" cy="756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9"/>
                </a:solidFill>
                <a:latin typeface="Calibri"/>
              </a:rPr>
              <a:t>Two commitments follow: an </a:t>
            </a:r>
            <a:r>
              <a:rPr sz="1600" b="1">
                <a:solidFill>
                  <a:srgbClr val="1A1A19"/>
                </a:solidFill>
                <a:latin typeface="Calibri"/>
              </a:rPr>
              <a:t>integrator, not a metric multiplier</a:t>
            </a:r>
            <a:r>
              <a:rPr sz="1600" b="0">
                <a:solidFill>
                  <a:srgbClr val="1A1A19"/>
                </a:solidFill>
                <a:latin typeface="Calibri"/>
              </a:rPr>
              <a:t> in the fast tier, so an arbitrary target vector is reachable; and a </a:t>
            </a:r>
            <a:r>
              <a:rPr sz="1600" b="1">
                <a:solidFill>
                  <a:srgbClr val="1A1A19"/>
                </a:solidFill>
                <a:latin typeface="Calibri"/>
              </a:rPr>
              <a:t>convex program with one auditable fairness dial</a:t>
            </a:r>
            <a:r>
              <a:rPr sz="1600" b="0">
                <a:solidFill>
                  <a:srgbClr val="1A1A19"/>
                </a:solidFill>
                <a:latin typeface="Calibri"/>
              </a:rPr>
              <a:t> in the slow tier.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8A8980"/>
                </a:solidFill>
                <a:latin typeface="Calibri"/>
              </a:rPr>
              <a:t>THE DESIGN  ·  EVERY ~1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13816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A19"/>
                </a:solidFill>
                <a:latin typeface="Calibri"/>
              </a:rPr>
              <a:t>Tier-1: what rate should each flow target?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0545775" cy="15875"/>
          </a:xfrm>
          <a:prstGeom prst="rect">
            <a:avLst/>
          </a:prstGeom>
          <a:solidFill>
            <a:srgbClr val="DD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64208"/>
            <a:ext cx="576072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Decision variables are a target rate per flow and the shortfall slacks. All solves share one feasible set:</a:t>
            </a:r>
          </a:p>
        </p:txBody>
      </p:sp>
      <p:pic>
        <p:nvPicPr>
          <p:cNvPr id="6" name="Picture 5" descr="eq-f50d6a4aa5749e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39162"/>
            <a:ext cx="5760720" cy="182686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412332"/>
            <a:ext cx="5760720" cy="352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Solved in three stages, in that order:</a:t>
            </a:r>
          </a:p>
        </p:txBody>
      </p:sp>
      <p:pic>
        <p:nvPicPr>
          <p:cNvPr id="8" name="Picture 7" descr="eq-50143fa3ad7f07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892773"/>
            <a:ext cx="5760720" cy="1436462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49440" y="1691640"/>
            <a:ext cx="4434840" cy="209931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49440" y="1691640"/>
            <a:ext cx="50800" cy="209931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78040" y="1828800"/>
            <a:ext cx="3977640" cy="1824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A1A19"/>
                </a:solidFill>
                <a:latin typeface="Calibri"/>
              </a:rPr>
              <a:t>Order the objectives; do not weight them.</a:t>
            </a:r>
            <a:r>
              <a:rPr sz="1500" b="0">
                <a:solidFill>
                  <a:srgbClr val="1A1A19"/>
                </a:solidFill>
                <a:latin typeface="Calibri"/>
              </a:rPr>
              <a:t> Folded into one, the two terms sit 3.3×10⁷ apart — two solvers returned optimal_inaccurate and disagreed 3.6× on one flow's rate. Split into B1 then B2, both match the analytic optimum to 100 bps.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3973830"/>
            <a:ext cx="4434840" cy="209931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49440" y="3973830"/>
            <a:ext cx="50800" cy="2099310"/>
          </a:xfrm>
          <a:prstGeom prst="rect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78040" y="4110990"/>
            <a:ext cx="3977640" cy="1824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A1A19"/>
                </a:solidFill>
                <a:latin typeface="Calibri"/>
              </a:rPr>
              <a:t>t * is the largest fraction of contract every GBR flow can hold at once.</a:t>
            </a:r>
            <a:r>
              <a:rPr sz="1500" b="0">
                <a:solidFill>
                  <a:srgbClr val="1A1A19"/>
                </a:solidFill>
                <a:latin typeface="Calibri"/>
              </a:rPr>
              <a:t> t* = 1 means the set is feasible, the floor binds nothing, and stage A is free — which is why it is on by default. α trades the guarantee against throughput.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8A8980"/>
                </a:solidFill>
                <a:latin typeface="Calibri"/>
              </a:rPr>
              <a:t>THE DESIGN  ·  EVERY SLOT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13816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A19"/>
                </a:solidFill>
                <a:latin typeface="Calibri"/>
              </a:rPr>
              <a:t>Tier-2: hit that target, slot by slot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0545775" cy="15875"/>
          </a:xfrm>
          <a:prstGeom prst="rect">
            <a:avLst/>
          </a:prstGeom>
          <a:solidFill>
            <a:srgbClr val="DD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64208"/>
            <a:ext cx="576072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Every flow carries a virtual queue — an accumulator in bits, not a buffer of data:</a:t>
            </a:r>
          </a:p>
        </p:txBody>
      </p:sp>
      <p:pic>
        <p:nvPicPr>
          <p:cNvPr id="6" name="Picture 5" descr="eq-0fd006bf103022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20874"/>
            <a:ext cx="5760720" cy="11194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3686648"/>
            <a:ext cx="5760720" cy="352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Ranking, and then the transport block:</a:t>
            </a:r>
          </a:p>
        </p:txBody>
      </p:sp>
      <p:pic>
        <p:nvPicPr>
          <p:cNvPr id="8" name="Picture 7" descr="eq-bcb1b5e8bb20f4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7089"/>
            <a:ext cx="5760720" cy="99414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289246"/>
            <a:ext cx="5760720" cy="904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The granted transport block is then filled by TS 38.321 logical-channel prioritisation: by priority level, then by adjusted queue.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1691640"/>
            <a:ext cx="4434840" cy="1823085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0" y="1691640"/>
            <a:ext cx="50800" cy="1823085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78040" y="1828800"/>
            <a:ext cx="3977640" cy="1548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9"/>
                </a:solidFill>
                <a:latin typeface="Calibri"/>
              </a:rPr>
              <a:t>The virtual queue is a </a:t>
            </a:r>
            <a:r>
              <a:rPr sz="1500" b="1">
                <a:solidFill>
                  <a:srgbClr val="1A1A19"/>
                </a:solidFill>
                <a:latin typeface="Calibri"/>
              </a:rPr>
              <a:t>non-saturating integrator</a:t>
            </a:r>
            <a:r>
              <a:rPr sz="1500" b="0">
                <a:solidFill>
                  <a:srgbClr val="1A1A19"/>
                </a:solidFill>
                <a:latin typeface="Calibri"/>
              </a:rPr>
              <a:t>, so it can reach an arbitrary, unequal target vector — precisely what a multiplicative urgency metric cannot do at any weight.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697605"/>
            <a:ext cx="4434840" cy="1546859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49440" y="3697605"/>
            <a:ext cx="50800" cy="1546859"/>
          </a:xfrm>
          <a:prstGeom prst="rect">
            <a:avLst/>
          </a:prstGeom>
          <a:solidFill>
            <a:srgbClr val="8A8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78040" y="3834765"/>
            <a:ext cx="3977640" cy="1272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9"/>
                </a:solidFill>
                <a:latin typeface="Calibri"/>
              </a:rPr>
              <a:t>Clamping to a </a:t>
            </a:r>
            <a:r>
              <a:rPr sz="1500" b="1">
                <a:solidFill>
                  <a:srgbClr val="1A1A19"/>
                </a:solidFill>
                <a:latin typeface="Calibri"/>
              </a:rPr>
              <a:t>windowed arrival count</a:t>
            </a:r>
            <a:r>
              <a:rPr sz="1500" b="0">
                <a:solidFill>
                  <a:srgbClr val="1A1A19"/>
                </a:solidFill>
                <a:latin typeface="Calibri"/>
              </a:rPr>
              <a:t>, not instantaneous backlog: a bursty video flow empties between frames, and clamping there erases its legitimate debt.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5427344"/>
            <a:ext cx="4434840" cy="1546859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49440" y="5427344"/>
            <a:ext cx="50800" cy="1546859"/>
          </a:xfrm>
          <a:prstGeom prst="rect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5564504"/>
            <a:ext cx="3977640" cy="1272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A1A19"/>
                </a:solidFill>
                <a:latin typeface="Calibri"/>
              </a:rPr>
              <a:t>Configured grants</a:t>
            </a:r>
            <a:r>
              <a:rPr sz="1500" b="0">
                <a:solidFill>
                  <a:srgbClr val="1A1A19"/>
                </a:solidFill>
                <a:latin typeface="Calibri"/>
              </a:rPr>
              <a:t> carry the periodic flows — standing allocations in priority tiers, self-gating where they would starve the dynamic pool.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8A8980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13816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A19"/>
                </a:solidFill>
                <a:latin typeface="Calibri"/>
              </a:rPr>
              <a:t>The simulator: what it models, and what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0545775" cy="15875"/>
          </a:xfrm>
          <a:prstGeom prst="rect">
            <a:avLst/>
          </a:prstGeom>
          <a:solidFill>
            <a:srgbClr val="DD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19072"/>
            <a:ext cx="5394960" cy="2503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08300"/>
                </a:solidFill>
                <a:latin typeface="Calibri"/>
              </a:rPr>
              <a:t>Modelled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The slot-by-slot PRB grid, with the TDD special slot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The PDCCH/CCE budget, with DCI aggregation levels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The uplink BSR round-trip — delay plus loss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CQI delay and loss; BLER from MCS/SNR mismatch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Per-UE AR(1) SNR through an MCS staircase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Per-flow buffers, HoL timestamps, PDB expiry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719072"/>
            <a:ext cx="4846320" cy="262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8A8980"/>
                </a:solidFill>
                <a:latin typeface="Calibri"/>
              </a:rPr>
              <a:t>Not modelled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LDPC and I/Q; HARQ as a state machine — a fixed delay and a BLER discount instead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Per-packet RLC segmentation, MU-MIMO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Mobility, UE churn, inter-cell interference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A8980"/>
                </a:solidFill>
                <a:latin typeface="Calibri"/>
              </a:rPr>
              <a:t>So the results are </a:t>
            </a:r>
            <a:r>
              <a:rPr sz="1500" b="1">
                <a:solidFill>
                  <a:srgbClr val="8A8980"/>
                </a:solidFill>
                <a:latin typeface="Calibri"/>
              </a:rPr>
              <a:t>comparative, not absolute</a:t>
            </a:r>
            <a:r>
              <a:rPr sz="1500" b="0">
                <a:solidFill>
                  <a:srgbClr val="8A8980"/>
                </a:solidFill>
                <a:latin typeface="Calibri"/>
              </a:rPr>
              <a:t> — and what we omit would widen the configured-grant margin, not narrow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57014"/>
            <a:ext cx="10545775" cy="352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Three workloads, each sized so a different bottleneck binds: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5128895"/>
          <a:ext cx="10545773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2362"/>
                <a:gridCol w="2536325"/>
                <a:gridCol w="3470761"/>
                <a:gridCol w="2536325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9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9"/>
                          </a:solidFill>
                          <a:latin typeface="Calibri"/>
                        </a:rPr>
                        <a:t>Carrier / TDD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9"/>
                          </a:solidFill>
                          <a:latin typeface="Calibri"/>
                        </a:rPr>
                        <a:t>Workload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9"/>
                          </a:solidFill>
                          <a:latin typeface="Calibri"/>
                        </a:rPr>
                        <a:t>What binds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C5B54"/>
                          </a:solidFill>
                          <a:latin typeface="Calibri"/>
                        </a:rPr>
                        <a:t>factory_robots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C5B54"/>
                          </a:solidFill>
                          <a:latin typeface="Calibri"/>
                        </a:rPr>
                        <a:t>40 MHz, μ=2, DSUUU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C5B54"/>
                          </a:solidFill>
                          <a:latin typeface="Calibri"/>
                        </a:rPr>
                        <a:t>10 robots, 24 flows, 14–24 dB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C5B54"/>
                          </a:solidFill>
                          <a:latin typeface="Calibri"/>
                        </a:rPr>
                        <a:t>Uplink data channel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C5B54"/>
                          </a:solidFill>
                          <a:latin typeface="Calibri"/>
                        </a:rPr>
                        <a:t>sensor_dense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C5B54"/>
                          </a:solidFill>
                          <a:latin typeface="Calibri"/>
                        </a:rPr>
                        <a:t>30 MHz, μ=1, DSUUU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C5B54"/>
                          </a:solidFill>
                          <a:latin typeface="Calibri"/>
                        </a:rPr>
                        <a:t>30 periodic sensors, 15 ms PDB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C5B54"/>
                          </a:solidFill>
                          <a:latin typeface="Calibri"/>
                        </a:rPr>
                        <a:t>PDCCH / CCE budget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C5B54"/>
                          </a:solidFill>
                          <a:latin typeface="Calibri"/>
                        </a:rPr>
                        <a:t>latency_bound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C5B54"/>
                          </a:solidFill>
                          <a:latin typeface="Calibri"/>
                        </a:rPr>
                        <a:t>40 MHz, μ=1, DDDSU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C5B54"/>
                          </a:solidFill>
                          <a:latin typeface="Calibri"/>
                        </a:rPr>
                        <a:t>8 × 5 Mbps + 80 Mbps bulk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5C5B54"/>
                          </a:solidFill>
                          <a:latin typeface="Calibri"/>
                        </a:rPr>
                        <a:t>Deadlines under saturation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8A8980"/>
                </a:solidFill>
                <a:latin typeface="Calibri"/>
              </a:rPr>
              <a:t>SENSOR_DENSE  ·  THE CONTROL CHANNEL BINDS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13816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A19"/>
                </a:solidFill>
                <a:latin typeface="Calibri"/>
              </a:rPr>
              <a:t>Result 1: a capability PF does not have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0545775" cy="15875"/>
          </a:xfrm>
          <a:prstGeom prst="rect">
            <a:avLst/>
          </a:prstGeom>
          <a:solidFill>
            <a:srgbClr val="DD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5775" cy="702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5C5B54"/>
                </a:solidFill>
                <a:latin typeface="Calibri"/>
              </a:rPr>
              <a:t>30 dense periodic uplink sensors with a 15 ms deadline. The DCI/CCE budget runs out before the data channel does.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759710"/>
          <a:ext cx="7863837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5409"/>
                <a:gridCol w="1202704"/>
                <a:gridCol w="1202704"/>
                <a:gridCol w="1572768"/>
                <a:gridCol w="1480252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A1A19"/>
                          </a:solidFill>
                          <a:latin typeface="Calibri"/>
                        </a:rPr>
                        <a:t>Scheduler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A1A19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A1A19"/>
                          </a:solidFill>
                          <a:latin typeface="Calibri"/>
                        </a:rPr>
                        <a:t>On time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A1A19"/>
                          </a:solidFill>
                          <a:latin typeface="Calibri"/>
                        </a:rPr>
                        <a:t>Min delivery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A1A19"/>
                          </a:solidFill>
                          <a:latin typeface="Calibri"/>
                        </a:rPr>
                        <a:t>Worst p99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Round Robin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6.9 M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0/30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71%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15.0 ms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Proportional Fair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9.2 M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2/30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15.0 ms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Two-tier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008300"/>
                          </a:solidFill>
                          <a:latin typeface="Calibri"/>
                        </a:rPr>
                        <a:t>9.6 M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008300"/>
                          </a:solidFill>
                          <a:latin typeface="Calibri"/>
                        </a:rPr>
                        <a:t>30/30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0083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008300"/>
                          </a:solidFill>
                          <a:latin typeface="Calibri"/>
                        </a:rPr>
                        <a:t>5.0 ms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4277614"/>
            <a:ext cx="10545775" cy="1325879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277614"/>
            <a:ext cx="50800" cy="1325879"/>
          </a:xfrm>
          <a:prstGeom prst="rect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414774"/>
            <a:ext cx="10088575" cy="1051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9"/>
                </a:solidFill>
                <a:latin typeface="Calibri"/>
              </a:rPr>
              <a:t>Each periodic flow gets a standing allocation that costs </a:t>
            </a:r>
            <a:r>
              <a:rPr sz="1600" b="1">
                <a:solidFill>
                  <a:srgbClr val="1A1A19"/>
                </a:solidFill>
                <a:latin typeface="Calibri"/>
              </a:rPr>
              <a:t>zero PDCCH per slot and needs no BSR round trip</a:t>
            </a:r>
            <a:r>
              <a:rPr sz="1600" b="0">
                <a:solidFill>
                  <a:srgbClr val="1A1A19"/>
                </a:solidFill>
                <a:latin typeface="Calibri"/>
              </a:rPr>
              <a:t>. PF is throttled by both budgets at once and has no mechanism to bypass either — so no amount of PF tuning closes this.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77813"/>
            <a:ext cx="10545775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A8980"/>
                </a:solidFill>
                <a:latin typeface="Calibri"/>
              </a:rPr>
              <a:t>Larrañaga et al. (JNCA 2023) report the same dominance of configured grants for time-critical industrial traffic from ns-3 / 5G-LENA — an independent simulator sharing no code with ours.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8A8980"/>
                </a:solidFill>
                <a:latin typeface="Calibri"/>
              </a:rPr>
              <a:t>LATENCY_BOUND  ·  DEADLINES UNDER SATURATION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13816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A19"/>
                </a:solidFill>
                <a:latin typeface="Calibri"/>
              </a:rPr>
              <a:t>Result 2: deadline-blindness is silent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0545775" cy="15875"/>
          </a:xfrm>
          <a:prstGeom prst="rect">
            <a:avLst/>
          </a:prstGeom>
          <a:solidFill>
            <a:srgbClr val="DD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5775" cy="702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5C5B54"/>
                </a:solidFill>
                <a:latin typeface="Calibri"/>
              </a:rPr>
              <a:t>Eight interactive 5 Mbps streams with a 12 ms deadline, sharing a saturated downlink with 80 Mbps of bulk.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759710"/>
          <a:ext cx="8595357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522"/>
                <a:gridCol w="1242702"/>
                <a:gridCol w="1656936"/>
                <a:gridCol w="1449819"/>
                <a:gridCol w="1553378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A1A19"/>
                          </a:solidFill>
                          <a:latin typeface="Calibri"/>
                        </a:rPr>
                        <a:t>Scheduler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A1A19"/>
                          </a:solidFill>
                          <a:latin typeface="Calibri"/>
                        </a:rPr>
                        <a:t>On time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A1A19"/>
                          </a:solidFill>
                          <a:latin typeface="Calibri"/>
                        </a:rPr>
                        <a:t>Mean delivery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A1A19"/>
                          </a:solidFill>
                          <a:latin typeface="Calibri"/>
                        </a:rPr>
                        <a:t>Worst p99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A1A19"/>
                          </a:solidFill>
                          <a:latin typeface="Calibri"/>
                        </a:rPr>
                        <a:t>Bulk carried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Round Robin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3/8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12.0 ms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22.8 M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Proportional Fair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5/8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86%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12.0 ms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24.6 M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Two-tier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008300"/>
                          </a:solidFill>
                          <a:latin typeface="Calibri"/>
                        </a:rPr>
                        <a:t>8/8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0083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008300"/>
                          </a:solidFill>
                          <a:latin typeface="Calibri"/>
                        </a:rPr>
                        <a:t>4.5 ms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5C5B54"/>
                          </a:solidFill>
                          <a:latin typeface="Calibri"/>
                        </a:rPr>
                        <a:t>13.2 M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2960" y="4277614"/>
            <a:ext cx="10545775" cy="1325879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277614"/>
            <a:ext cx="50800" cy="1325879"/>
          </a:xfrm>
          <a:prstGeom prst="rect">
            <a:avLst/>
          </a:prstGeom>
          <a:solidFill>
            <a:srgbClr val="E34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414774"/>
            <a:ext cx="10088575" cy="10515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9"/>
                </a:solidFill>
                <a:latin typeface="Calibri"/>
              </a:rPr>
              <a:t>PF's mean delivery on the control flows is </a:t>
            </a:r>
            <a:r>
              <a:rPr sz="1600" b="1">
                <a:solidFill>
                  <a:srgbClr val="1A1A19"/>
                </a:solidFill>
                <a:latin typeface="Calibri"/>
              </a:rPr>
              <a:t>86% — which reads healthy on a dashboard.</a:t>
            </a:r>
            <a:r>
              <a:rPr sz="1600" b="0">
                <a:solidFill>
                  <a:srgbClr val="1A1A19"/>
                </a:solidFill>
                <a:latin typeface="Calibri"/>
              </a:rPr>
              <a:t> The missing 14% are aged-out packets: the late motion commands, the safety-relevant ones. Mean delivery is not a safety metric.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77813"/>
            <a:ext cx="10545775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A8980"/>
                </a:solidFill>
                <a:latin typeface="Calibri"/>
              </a:rPr>
              <a:t>The design pays for this explicitly and visibly — bulk throughput drops 24.6 → 13.2 Mbps to clear every deadline. That is the trade the QoS profile asked for.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8A8980"/>
                </a:solidFill>
                <a:latin typeface="Calibri"/>
              </a:rPr>
              <a:t>FACTORY_ROBOTS  ·  THE UPLINK DATA CHANNEL BINDS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13816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A19"/>
                </a:solidFill>
                <a:latin typeface="Calibri"/>
              </a:rPr>
              <a:t>Result 3: rate contracts, swept across offered load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0545775" cy="15875"/>
          </a:xfrm>
          <a:prstGeom prst="rect">
            <a:avLst/>
          </a:prstGeom>
          <a:solidFill>
            <a:srgbClr val="DD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19072"/>
            <a:ext cx="5486400" cy="702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0">
                <a:solidFill>
                  <a:srgbClr val="5C5B54"/>
                </a:solidFill>
                <a:latin typeface="Calibri"/>
              </a:rPr>
              <a:t>Ten robots, uplink-heavy. Capacity is fixed by spectrum, so the swept axis is offered load.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22960" y="2331720"/>
          <a:ext cx="539496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2148840"/>
            <a:ext cx="4846320" cy="334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5C5B54"/>
                </a:solidFill>
                <a:latin typeface="Calibri"/>
              </a:rPr>
              <a:t>Contracts met (≥95% of the rate floor)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92240" y="2592577"/>
          <a:ext cx="484631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3160"/>
                <a:gridCol w="1118381"/>
                <a:gridCol w="1304778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A1A19"/>
                          </a:solidFill>
                          <a:latin typeface="Calibri"/>
                        </a:rPr>
                        <a:t>Load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A1A19"/>
                          </a:solidFill>
                          <a:latin typeface="Calibri"/>
                        </a:rPr>
                        <a:t>PF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>
                          <a:solidFill>
                            <a:srgbClr val="1A1A19"/>
                          </a:solidFill>
                          <a:latin typeface="Calibri"/>
                        </a:rPr>
                        <a:t>Two-tier</a:t>
                      </a:r>
                    </a:p>
                  </a:txBody>
                  <a:tcPr marL="82296" marT="27432" marB="27432">
                    <a:solidFill>
                      <a:srgbClr val="F5F4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1.00x  (as shipped)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1/10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0/10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0.67x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8300"/>
                          </a:solidFill>
                          <a:latin typeface="Calibri"/>
                        </a:rPr>
                        <a:t>6/10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1/10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0.50x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8/10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008300"/>
                          </a:solidFill>
                          <a:latin typeface="Calibri"/>
                        </a:rPr>
                        <a:t>10/10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0.33x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10/10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5C5B54"/>
                          </a:solidFill>
                          <a:latin typeface="Calibri"/>
                        </a:rPr>
                        <a:t>10/10</a:t>
                      </a:r>
                    </a:p>
                  </a:txBody>
                  <a:tcPr marL="82296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92240" y="4421377"/>
            <a:ext cx="4846320" cy="1823085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92240" y="4421377"/>
            <a:ext cx="50800" cy="1823085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4558537"/>
            <a:ext cx="4389120" cy="1548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>
                <a:solidFill>
                  <a:srgbClr val="1A1A19"/>
                </a:solidFill>
                <a:latin typeface="Calibri"/>
              </a:rPr>
              <a:t>At 0.50× we honour 10/10 contracts to PF's 8/10.</a:t>
            </a:r>
            <a:r>
              <a:rPr sz="1500" b="0">
                <a:solidFill>
                  <a:srgbClr val="1A1A19"/>
                </a:solidFill>
                <a:latin typeface="Calibri"/>
              </a:rPr>
              <a:t> Deeper in overload the two disagree about the metric, not the outcome: at 0.67× every robot holds ≥67% of its rate where PF's worst gets 21%.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172200"/>
            <a:ext cx="10545775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8A8980"/>
                </a:solidFill>
                <a:latin typeface="Calibri"/>
              </a:rPr>
              <a:t>A threshold count rewards concentrating the shortfall; the max-min floor spreads it, and α picks between them. This deep into overload the operator's real lever is admission control.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8A8980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13816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A19"/>
                </a:solidFill>
                <a:latin typeface="Calibri"/>
              </a:rPr>
              <a:t>What the design adds — and what it costs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0545775" cy="15875"/>
          </a:xfrm>
          <a:prstGeom prst="rect">
            <a:avLst/>
          </a:prstGeom>
          <a:solidFill>
            <a:srgbClr val="DD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19072"/>
            <a:ext cx="5394960" cy="318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08300"/>
                </a:solidFill>
                <a:latin typeface="Calibri"/>
              </a:rPr>
              <a:t>Added over the PF baseline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A </a:t>
            </a:r>
            <a:r>
              <a:rPr sz="1500" b="1">
                <a:solidFill>
                  <a:srgbClr val="5C5B54"/>
                </a:solidFill>
                <a:latin typeface="Calibri"/>
              </a:rPr>
              <a:t>rate contract</a:t>
            </a:r>
            <a:r>
              <a:rPr sz="1500" b="0">
                <a:solidFill>
                  <a:srgbClr val="5C5B54"/>
                </a:solidFill>
                <a:latin typeface="Calibri"/>
              </a:rPr>
              <a:t> that is stated and honoured — 10/10 against 8/10 at moderate load; worst-served 44% against 1% in overload.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A deadline that is </a:t>
            </a:r>
            <a:r>
              <a:rPr sz="1500" b="1">
                <a:solidFill>
                  <a:srgbClr val="5C5B54"/>
                </a:solidFill>
                <a:latin typeface="Calibri"/>
              </a:rPr>
              <a:t>tracked, not hoped for</a:t>
            </a:r>
            <a:r>
              <a:rPr sz="1500" b="0">
                <a:solidFill>
                  <a:srgbClr val="5C5B54"/>
                </a:solidFill>
                <a:latin typeface="Calibri"/>
              </a:rPr>
              <a:t> — 8/8 against 5/8, p99 4.5 against 12.0 ms.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A </a:t>
            </a:r>
            <a:r>
              <a:rPr sz="1500" b="1">
                <a:solidFill>
                  <a:srgbClr val="5C5B54"/>
                </a:solidFill>
                <a:latin typeface="Calibri"/>
              </a:rPr>
              <a:t>control-channel path</a:t>
            </a:r>
            <a:r>
              <a:rPr sz="1500" b="0">
                <a:solidFill>
                  <a:srgbClr val="5C5B54"/>
                </a:solidFill>
                <a:latin typeface="Calibri"/>
              </a:rPr>
              <a:t> for dense periodic traffic — 30/30 against 2/30 where the CCE budget binds.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A </a:t>
            </a:r>
            <a:r>
              <a:rPr sz="1500" b="1">
                <a:solidFill>
                  <a:srgbClr val="5C5B54"/>
                </a:solidFill>
                <a:latin typeface="Calibri"/>
              </a:rPr>
              <a:t>single fairness dial</a:t>
            </a:r>
            <a:r>
              <a:rPr sz="1500" b="0">
                <a:solidFill>
                  <a:srgbClr val="5C5B54"/>
                </a:solidFill>
                <a:latin typeface="Calibri"/>
              </a:rPr>
              <a:t> that self-disables when the GBR set is feasible, plus soft per-slice floors.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719072"/>
            <a:ext cx="4846320" cy="2827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EB6834"/>
                </a:solidFill>
                <a:latin typeface="Calibri"/>
              </a:rPr>
              <a:t>Paid for with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About </a:t>
            </a:r>
            <a:r>
              <a:rPr sz="1500" b="1">
                <a:solidFill>
                  <a:srgbClr val="5C5B54"/>
                </a:solidFill>
                <a:latin typeface="Calibri"/>
              </a:rPr>
              <a:t>4% of aggregate throughput</a:t>
            </a:r>
            <a:r>
              <a:rPr sz="1500" b="0">
                <a:solidFill>
                  <a:srgbClr val="5C5B54"/>
                </a:solidFill>
                <a:latin typeface="Calibri"/>
              </a:rPr>
              <a:t> at the max-min floor in deep overload — the price of holding the worst-served flow above zero.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</a:t>
            </a:r>
            <a:r>
              <a:rPr sz="1500" b="1">
                <a:solidFill>
                  <a:srgbClr val="5C5B54"/>
                </a:solidFill>
                <a:latin typeface="Calibri"/>
              </a:rPr>
              <a:t>One convex solve per second</a:t>
            </a:r>
            <a:r>
              <a:rPr sz="1500" b="0">
                <a:solidFill>
                  <a:srgbClr val="5C5B54"/>
                </a:solidFill>
                <a:latin typeface="Calibri"/>
              </a:rPr>
              <a:t> — CVXPY/Clarabel here, GLPK simplex with successive convex approximation in the OAI port.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Per-5QI priority and prioritised-bit-rate configuration that has to actually be set.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5155184"/>
            <a:ext cx="10545775" cy="1546859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5155184"/>
            <a:ext cx="50800" cy="1546859"/>
          </a:xfrm>
          <a:prstGeom prst="rect">
            <a:avLst/>
          </a:prstGeom>
          <a:solidFill>
            <a:srgbClr val="008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292344"/>
            <a:ext cx="10088575" cy="12725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1A1A19"/>
                </a:solidFill>
                <a:latin typeface="Calibri"/>
              </a:rPr>
              <a:t>It is also </a:t>
            </a:r>
            <a:r>
              <a:rPr sz="1500" b="1">
                <a:solidFill>
                  <a:srgbClr val="1A1A19"/>
                </a:solidFill>
                <a:latin typeface="Calibri"/>
              </a:rPr>
              <a:t>markedly less sensitive to control-plane fidelity.</a:t>
            </a:r>
            <a:r>
              <a:rPr sz="1500" b="0">
                <a:solidFill>
                  <a:srgbClr val="1A1A19"/>
                </a:solidFill>
                <a:latin typeface="Calibri"/>
              </a:rPr>
              <a:t> Sweeping the uplink BSR round-trip from 0 to 16 slots, PF's contract count breaks 8/10 → 5/10 and its worst-served flow falls 66% → 30%; the two-tier design moves 10/10 → 8/10 and 80% → 77%, losing 1% of throughput against PF's 10%. Configured-grant flows are invariant to BSR delay by construction.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8A8980"/>
                </a:solidFill>
                <a:latin typeface="Calibri"/>
              </a:rPr>
              <a:t>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13816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3000" b="1">
                <a:solidFill>
                  <a:srgbClr val="1A1A19"/>
                </a:solidFill>
                <a:latin typeface="Calibri"/>
              </a:rPr>
              <a:t>Where this stands, and what remains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481328"/>
            <a:ext cx="10545775" cy="15875"/>
          </a:xfrm>
          <a:prstGeom prst="rect">
            <a:avLst/>
          </a:prstGeom>
          <a:solidFill>
            <a:srgbClr val="DD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19072"/>
            <a:ext cx="3291840" cy="3103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008300"/>
                </a:solidFill>
                <a:latin typeface="Calibri"/>
              </a:rPr>
              <a:t>Built and tested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Scheduler library: Tier-1, Tier-2, configured grants, per-UE grants with a TS 38.321 multiplexer, per-slice floors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A symbol-accurate NR simulator with PDCCH, BSR and CQI models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Three scenario studies, 70 regression tests, one script per result 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1719072"/>
            <a:ext cx="3291840" cy="24752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EB6834"/>
                </a:solidFill>
                <a:latin typeface="Calibri"/>
              </a:rPr>
              <a:t>In progress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OAI integration in a separate repo — Tier-1 as GLPK simplex with successive convex approximation, Tier-2 inside the NR MAC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Porting the max-min stage and the per-5QI priority mapping onto that branch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719072"/>
            <a:ext cx="3291840" cy="3180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700" b="1">
                <a:solidFill>
                  <a:srgbClr val="8A8980"/>
                </a:solidFill>
                <a:latin typeface="Calibri"/>
              </a:rPr>
              <a:t>To test on hardware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End-to-end runs on OAI with COTS UEs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Tier-1 solve time inside a real 1 s budget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What the simulator omits: HARQ PRB cost, uplink grant timing, mobility, UE churn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5C5B54"/>
                </a:solidFill>
                <a:latin typeface="Calibri"/>
              </a:rPr>
              <a:t>• Multi-cell and inter-cell interference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200904"/>
            <a:ext cx="10545775" cy="1620520"/>
          </a:xfrm>
          <a:prstGeom prst="rect">
            <a:avLst/>
          </a:prstGeom>
          <a:solidFill>
            <a:srgbClr val="F5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5200904"/>
            <a:ext cx="50800" cy="16205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38064"/>
            <a:ext cx="10088575" cy="134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9"/>
                </a:solidFill>
                <a:latin typeface="Calibri"/>
              </a:rPr>
              <a:t>The design is settled and the simulation case is made: against the PF scheduler OAI ships, it adds rate contracts, deadline tracking and a control-channel path, at a cost we can state and bound. </a:t>
            </a:r>
            <a:r>
              <a:rPr sz="1600" b="1">
                <a:solidFill>
                  <a:srgbClr val="1A1A19"/>
                </a:solidFill>
                <a:latin typeface="Calibri"/>
              </a:rPr>
              <a:t>The open work is landing it on real hardware</a:t>
            </a:r>
            <a:r>
              <a:rPr sz="1600" b="0">
                <a:solidFill>
                  <a:srgbClr val="1A1A19"/>
                </a:solidFill>
                <a:latin typeface="Calibri"/>
              </a:rPr>
              <a:t> — everything above is comparative, in a simulator, and silicon is the next step.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