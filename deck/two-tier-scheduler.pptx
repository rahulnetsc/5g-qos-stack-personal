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0">
                <a:solidFill>
                  <a:srgbClr val="5C5B54"/>
                </a:solidFill>
                <a:latin typeface="Calibri"/>
              </a:rPr>
              <a:t>Worst-served GBR flow (% of contract)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Proportional Fair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Sheet1!$A$2:$A$5</c:f>
              <c:strCache>
                <c:ptCount val="4"/>
                <c:pt idx="0">
                  <c:v>1.00x</c:v>
                </c:pt>
                <c:pt idx="1">
                  <c:v>0.67x</c:v>
                </c:pt>
                <c:pt idx="2">
                  <c:v>0.50x</c:v>
                </c:pt>
                <c:pt idx="3">
                  <c:v>0.33x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21</c:v>
                </c:pt>
                <c:pt idx="2">
                  <c:v>52</c:v>
                </c:pt>
                <c:pt idx="3">
                  <c:v>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Two-tier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Sheet1!$A$2:$A$5</c:f>
              <c:strCache>
                <c:ptCount val="4"/>
                <c:pt idx="0">
                  <c:v>1.00x</c:v>
                </c:pt>
                <c:pt idx="1">
                  <c:v>0.67x</c:v>
                </c:pt>
                <c:pt idx="2">
                  <c:v>0.50x</c:v>
                </c:pt>
                <c:pt idx="3">
                  <c:v>0.33x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44</c:v>
                </c:pt>
                <c:pt idx="1">
                  <c:v>67</c:v>
                </c:pt>
                <c:pt idx="2">
                  <c:v>81</c:v>
                </c:pt>
                <c:pt idx="3">
                  <c:v>83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8A898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8A898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C5B54"/>
              </a:solidFill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45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000" b="1">
                <a:solidFill>
                  <a:srgbClr val="1A1A19"/>
                </a:solidFill>
                <a:latin typeface="Calibri"/>
              </a:rPr>
              <a:t>An Engineering Study of a Two-Tier
QoS-Aware Scheduler for Private 5G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703320"/>
            <a:ext cx="2011680" cy="381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977639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0">
                <a:solidFill>
                  <a:srgbClr val="5C5B54"/>
                </a:solidFill>
                <a:latin typeface="Calibri"/>
              </a:rPr>
              <a:t>Should we replace the proportional-fair scheduler OpenAirInterface ships?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0">
                <a:solidFill>
                  <a:srgbClr val="5C5B54"/>
                </a:solidFill>
                <a:latin typeface="Calibri"/>
              </a:rPr>
              <a:t>The decision, the measurements behind it — and the three modelling errors found on the way.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8A8980"/>
                </a:solidFill>
                <a:latin typeface="Calibri"/>
              </a:rPr>
              <a:t>THE SETTING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13816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A19"/>
                </a:solidFill>
                <a:latin typeface="Calibri"/>
              </a:rPr>
              <a:t>One cell, three kinds of promise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0545775" cy="15875"/>
          </a:xfrm>
          <a:prstGeom prst="rect">
            <a:avLst/>
          </a:prstGeom>
          <a:solidFill>
            <a:srgbClr val="DD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5C5B54"/>
                </a:solidFill>
                <a:latin typeface="Calibri"/>
              </a:rPr>
              <a:t>A factory floor puts traffic on one carrier whose classes want qualitatively different things: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377440"/>
          <a:ext cx="10545774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142"/>
                <a:gridCol w="3124674"/>
                <a:gridCol w="2603895"/>
                <a:gridCol w="3385063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1A19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1A19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1A19"/>
                          </a:solidFill>
                          <a:latin typeface="Calibri"/>
                        </a:rPr>
                        <a:t>What it wants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1A19"/>
                          </a:solidFill>
                          <a:latin typeface="Calibri"/>
                        </a:rPr>
                        <a:t>What failure looks like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GBR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Robot camera / LIDAR uplink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A sustained rate floor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Visible artefacts, lost frames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Delay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Motion control, teleoperation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Bytes before a deadline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A late command — a safety event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Best-effort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Firmware, log upload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Whatever is left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Slower; nobody notices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4114800"/>
            <a:ext cx="10545775" cy="105156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50800" cy="10515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242816"/>
            <a:ext cx="10088575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9"/>
                </a:solidFill>
                <a:latin typeface="Calibri"/>
              </a:rPr>
              <a:t>Proportional fair — the LTE/NR default, and what OAI ships — represents </a:t>
            </a:r>
            <a:r>
              <a:rPr sz="1600" b="1">
                <a:solidFill>
                  <a:srgbClr val="1A1A19"/>
                </a:solidFill>
                <a:latin typeface="Calibri"/>
              </a:rPr>
              <a:t>neither a rate contract nor a deadline</a:t>
            </a:r>
            <a:r>
              <a:rPr sz="1600" b="0">
                <a:solidFill>
                  <a:srgbClr val="1A1A19"/>
                </a:solidFill>
                <a:latin typeface="Calibri"/>
              </a:rPr>
              <a:t>. It is a good answer to a question the factory is not asking.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4068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8A8980"/>
                </a:solidFill>
                <a:latin typeface="Calibri"/>
              </a:rPr>
              <a:t>A GBR flow wants a specific rate or nothing of value. A delay flow wants its bytes before a deadline, after which they are worthless.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8A8980"/>
                </a:solidFill>
                <a:latin typeface="Calibri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13816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A19"/>
                </a:solidFill>
                <a:latin typeface="Calibri"/>
              </a:rPr>
              <a:t>The design — and we claim no novelty for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0545775" cy="15875"/>
          </a:xfrm>
          <a:prstGeom prst="rect">
            <a:avLst/>
          </a:prstGeom>
          <a:solidFill>
            <a:srgbClr val="DD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EB6834"/>
                </a:solidFill>
                <a:latin typeface="Calibri"/>
              </a:rPr>
              <a:t>Tier-1  ·  every ~1 s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600" b="0">
                <a:solidFill>
                  <a:srgbClr val="5C5B54"/>
                </a:solidFill>
                <a:latin typeface="Calibri"/>
              </a:rPr>
              <a:t>A convex program sets a target rate per flow: max-min GBR floor, then minimise contract shortfall, then maximise weighted log utility.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EB6834"/>
                </a:solidFill>
                <a:latin typeface="Calibri"/>
              </a:rPr>
              <a:t>Tier-2  ·  every slot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600" b="0">
                <a:solidFill>
                  <a:srgbClr val="5C5B54"/>
                </a:solidFill>
                <a:latin typeface="Calibri"/>
              </a:rPr>
              <a:t>Drift-plus-penalty virtual queues track those targets. Grants are per UE — one DCI, one transport block — filled by a MAC logical-channel multiplexer.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EB6834"/>
                </a:solidFill>
                <a:latin typeface="Calibri"/>
              </a:rPr>
              <a:t>Configured grants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C5B54"/>
                </a:solidFill>
                <a:latin typeface="Calibri"/>
              </a:rPr>
              <a:t>Periodic flows get standing allocations, self-gated so they stand aside when they would hurt.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1783080"/>
            <a:ext cx="4754880" cy="265176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0" y="1783080"/>
            <a:ext cx="50800" cy="2651760"/>
          </a:xfrm>
          <a:prstGeom prst="rect">
            <a:avLst/>
          </a:prstGeom>
          <a:solidFill>
            <a:srgbClr val="8A8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1911096"/>
            <a:ext cx="4297680" cy="239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9"/>
                </a:solidFill>
                <a:latin typeface="Calibri"/>
              </a:rPr>
              <a:t>This composes established parts — network utility maximisation over a slow horizon feeding Lyapunov drift-plus-penalty per slot.
</a:t>
            </a:r>
            <a:r>
              <a:rPr sz="1600" b="1">
                <a:solidFill>
                  <a:srgbClr val="1A1A19"/>
                </a:solidFill>
                <a:latin typeface="Calibri"/>
              </a:rPr>
              <a:t>It is the pattern behind NVS and the O-RAN RIC split.</a:t>
            </a:r>
            <a:r>
              <a:rPr sz="1600" b="0">
                <a:solidFill>
                  <a:srgbClr val="1A1A19"/>
                </a:solidFill>
                <a:latin typeface="Calibri"/>
              </a:rPr>
              <a:t> We present it because the composition, and the places it goes wrong, are instructive.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9788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8A8980"/>
                </a:solidFill>
                <a:latin typeface="Calibri"/>
              </a:rPr>
              <a:t>Evaluated against Round Robin, Proportional Fair and a class-aware Gradient baseline. All four grant per UE, so the comparison isolates QoS-awareness rather than grant granularity.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8A8980"/>
                </a:solidFill>
                <a:latin typeface="Calibri"/>
              </a:rPr>
              <a:t>RESULT · SENSOR_DENSE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13816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A19"/>
                </a:solidFill>
                <a:latin typeface="Calibri"/>
              </a:rPr>
              <a:t>Where it wins outright (1): the control channel binds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0545775" cy="15875"/>
          </a:xfrm>
          <a:prstGeom prst="rect">
            <a:avLst/>
          </a:prstGeom>
          <a:solidFill>
            <a:srgbClr val="DD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5C5B54"/>
                </a:solidFill>
                <a:latin typeface="Calibri"/>
              </a:rPr>
              <a:t>30 dense periodic uplink sensors, 15 ms deadline. The DCI/CCE budget runs out before the data channel does.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606040"/>
          <a:ext cx="694944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737360"/>
                <a:gridCol w="17373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A1A19"/>
                          </a:solidFill>
                          <a:latin typeface="Calibri"/>
                        </a:rPr>
                        <a:t>Scheduler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A1A19"/>
                          </a:solidFill>
                          <a:latin typeface="Calibri"/>
                        </a:rPr>
                        <a:t>On time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A1A19"/>
                          </a:solidFill>
                          <a:latin typeface="Calibri"/>
                        </a:rPr>
                        <a:t>Worst p99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Round Robin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0/30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15.0 ms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Proportional Fair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E34948"/>
                          </a:solidFill>
                          <a:latin typeface="Calibri"/>
                        </a:rPr>
                        <a:t>2/30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15.0 ms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Two-tier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008300"/>
                          </a:solidFill>
                          <a:latin typeface="Calibri"/>
                        </a:rPr>
                        <a:t>30/30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008300"/>
                          </a:solidFill>
                          <a:latin typeface="Calibri"/>
                        </a:rPr>
                        <a:t>5.0 ms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3977639"/>
            <a:ext cx="10545775" cy="137160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50800" cy="1371600"/>
          </a:xfrm>
          <a:prstGeom prst="rect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05655"/>
            <a:ext cx="10088575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9"/>
                </a:solidFill>
                <a:latin typeface="Calibri"/>
              </a:rPr>
              <a:t>Configured grants cost </a:t>
            </a:r>
            <a:r>
              <a:rPr sz="1600" b="1">
                <a:solidFill>
                  <a:srgbClr val="1A1A19"/>
                </a:solidFill>
                <a:latin typeface="Calibri"/>
              </a:rPr>
              <a:t>zero PDCCH per slot and need no buffer-status round trip</a:t>
            </a:r>
            <a:r>
              <a:rPr sz="1600" b="0">
                <a:solidFill>
                  <a:srgbClr val="1A1A19"/>
                </a:solidFill>
                <a:latin typeface="Calibri"/>
              </a:rPr>
              <a:t>. PF is throttled by both budgets at once and has no mechanism to bypass either — this is a capability gap, not a tuning gap, so no amount of PF tuning closes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57784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A8980"/>
                </a:solidFill>
                <a:latin typeface="Calibri"/>
              </a:rPr>
              <a:t>Independently reported by Larrañaga et al. (JNCA 2023) from ns-3/5G-LENA. We reproduce it in a simulator sharing no code with theirs.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8A8980"/>
                </a:solidFill>
                <a:latin typeface="Calibri"/>
              </a:rPr>
              <a:t>RESULT · LATENCY_BOUND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13816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A19"/>
                </a:solidFill>
                <a:latin typeface="Calibri"/>
              </a:rPr>
              <a:t>Where it wins outright (2): deadline-blindness is silent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0545775" cy="15875"/>
          </a:xfrm>
          <a:prstGeom prst="rect">
            <a:avLst/>
          </a:prstGeom>
          <a:solidFill>
            <a:srgbClr val="DD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5C5B54"/>
                </a:solidFill>
                <a:latin typeface="Calibri"/>
              </a:rPr>
              <a:t>Eight interactive 5 Mbps streams, 12 ms deadline, sharing a saturated downlink with 80 Mbps of bulk.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423160"/>
          <a:ext cx="8595357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522"/>
                <a:gridCol w="1242702"/>
                <a:gridCol w="1656936"/>
                <a:gridCol w="1449819"/>
                <a:gridCol w="1553378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A1A19"/>
                          </a:solidFill>
                          <a:latin typeface="Calibri"/>
                        </a:rPr>
                        <a:t>Scheduler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A1A19"/>
                          </a:solidFill>
                          <a:latin typeface="Calibri"/>
                        </a:rPr>
                        <a:t>On time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A1A19"/>
                          </a:solidFill>
                          <a:latin typeface="Calibri"/>
                        </a:rPr>
                        <a:t>Mean delivery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A1A19"/>
                          </a:solidFill>
                          <a:latin typeface="Calibri"/>
                        </a:rPr>
                        <a:t>Worst p99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A1A19"/>
                          </a:solidFill>
                          <a:latin typeface="Calibri"/>
                        </a:rPr>
                        <a:t>Bulk carried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Round Robin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3/8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12.0 ms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22.8 M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Proportional Fair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5/8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12.0 ms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24.6 M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Two-tier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008300"/>
                          </a:solidFill>
                          <a:latin typeface="Calibri"/>
                        </a:rPr>
                        <a:t>8/8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008300"/>
                          </a:solidFill>
                          <a:latin typeface="Calibri"/>
                        </a:rPr>
                        <a:t>4.5 ms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13.2 M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4114800"/>
            <a:ext cx="10545775" cy="137160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50800" cy="1371600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242816"/>
            <a:ext cx="10088575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9"/>
                </a:solidFill>
                <a:latin typeface="Calibri"/>
              </a:rPr>
              <a:t>PF's control-flow mean delivery is </a:t>
            </a:r>
            <a:r>
              <a:rPr sz="1600" b="1">
                <a:solidFill>
                  <a:srgbClr val="1A1A19"/>
                </a:solidFill>
                <a:latin typeface="Calibri"/>
              </a:rPr>
              <a:t>86% — which reads healthy on a dashboard.</a:t>
            </a:r>
            <a:r>
              <a:rPr sz="1600" b="0">
                <a:solidFill>
                  <a:srgbClr val="1A1A19"/>
                </a:solidFill>
                <a:latin typeface="Calibri"/>
              </a:rPr>
              <a:t> The missing 14% are aged-out packets: the late motion commands, the safety-relevant ones. Mean delivery is not a safety metric.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66928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A8980"/>
                </a:solidFill>
                <a:latin typeface="Calibri"/>
              </a:rPr>
              <a:t>The two-tier design pays for it explicitly — bulk drops 24.6 → 13.2 Mbps to clear every deadline.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8A8980"/>
                </a:solidFill>
                <a:latin typeface="Calibri"/>
              </a:rPr>
              <a:t>RESULT · FACTORY_ROBOTS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13816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A19"/>
                </a:solidFill>
                <a:latin typeface="Calibri"/>
              </a:rPr>
              <a:t>Where it is mixed: the metric differs, not the outcome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0545775" cy="15875"/>
          </a:xfrm>
          <a:prstGeom prst="rect">
            <a:avLst/>
          </a:prstGeom>
          <a:solidFill>
            <a:srgbClr val="DD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1907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5C5B54"/>
                </a:solidFill>
                <a:latin typeface="Calibri"/>
              </a:rPr>
              <a:t>Ten robots, uplink-heavy, swept across offered load. Two metrics disagree.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22960" y="2331720"/>
          <a:ext cx="539496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148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5C5B54"/>
                </a:solidFill>
                <a:latin typeface="Calibri"/>
              </a:rPr>
              <a:t>Contracts met (≥95% of the rate floor)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2606040"/>
          <a:ext cx="484631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1118381"/>
                <a:gridCol w="1304778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1A19"/>
                          </a:solidFill>
                          <a:latin typeface="Calibri"/>
                        </a:rPr>
                        <a:t>Load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A1A19"/>
                          </a:solidFill>
                          <a:latin typeface="Calibri"/>
                        </a:rPr>
                        <a:t>PF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A1A19"/>
                          </a:solidFill>
                          <a:latin typeface="Calibri"/>
                        </a:rPr>
                        <a:t>Two-tier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1.00x  (as shipped)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1/10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0.67x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8300"/>
                          </a:solidFill>
                          <a:latin typeface="Calibri"/>
                        </a:rPr>
                        <a:t>6/10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1/10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0.50x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8/10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8300"/>
                          </a:solidFill>
                          <a:latin typeface="Calibri"/>
                        </a:rPr>
                        <a:t>10/10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0.33x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10/10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10/10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92240" y="4389120"/>
            <a:ext cx="4846320" cy="164592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92240" y="4389120"/>
            <a:ext cx="50800" cy="16459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4517136"/>
            <a:ext cx="438912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9"/>
                </a:solidFill>
                <a:latin typeface="Calibri"/>
              </a:rPr>
              <a:t>At 0.67x load every robot gets </a:t>
            </a:r>
            <a:r>
              <a:rPr sz="1600" b="1">
                <a:solidFill>
                  <a:srgbClr val="1A1A19"/>
                </a:solidFill>
                <a:latin typeface="Calibri"/>
              </a:rPr>
              <a:t>≥67%</a:t>
            </a:r>
            <a:r>
              <a:rPr sz="1600" b="0">
                <a:solidFill>
                  <a:srgbClr val="1A1A19"/>
                </a:solidFill>
                <a:latin typeface="Calibri"/>
              </a:rPr>
              <a:t> of its rate under two-tier, while PF leaves its worst at 21% — yet PF scores 6/10 to our 1/10, because six of its flows clear the 95% bar and none of ours 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108192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A8980"/>
                </a:solidFill>
                <a:latin typeface="Calibri"/>
              </a:rPr>
              <a:t>A threshold count rewards concentrating a shortfall. This design spreads it. Which is better depends on whether 90% of a video feed is worth anything — for cameras yes, for a control loop 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457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200" b="0">
                <a:solidFill>
                  <a:srgbClr val="1A1A19"/>
                </a:solidFill>
                <a:latin typeface="Calibri"/>
              </a:rPr>
              <a:t>Every result above is a claim about a scheduler
</a:t>
            </a:r>
            <a:r>
              <a:rPr sz="3200" b="1">
                <a:solidFill>
                  <a:srgbClr val="1A1A19"/>
                </a:solidFill>
                <a:latin typeface="Calibri"/>
              </a:rPr>
              <a:t>mediated by a simulator.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39"/>
            <a:ext cx="2011680" cy="381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51960"/>
            <a:ext cx="105457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0">
                <a:solidFill>
                  <a:srgbClr val="5C5B54"/>
                </a:solidFill>
                <a:latin typeface="Calibri"/>
              </a:rPr>
              <a:t>Three times, a natural-looking modelling shortcut produced a result that did not survive being corrected. One of them was a headline finding of an earlier draft of this work.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8A8980"/>
                </a:solidFill>
                <a:latin typeface="Calibri"/>
              </a:rPr>
              <a:t>SHORTCUT 1 · THE EXPENSIVE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13816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A19"/>
                </a:solidFill>
                <a:latin typeface="Calibri"/>
              </a:rPr>
              <a:t>The scheduler was filling the uplink transport block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0545775" cy="15875"/>
          </a:xfrm>
          <a:prstGeom prst="rect">
            <a:avLst/>
          </a:prstGeom>
          <a:solidFill>
            <a:srgbClr val="DD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5C5B54"/>
                </a:solidFill>
                <a:latin typeface="Calibri"/>
              </a:rPr>
              <a:t>Our multiplexer was direction-agnostic — the same code split a UE's transport block in both directions, ordering flows by the </a:t>
            </a:r>
            <a:r>
              <a:rPr sz="1700" b="1">
                <a:solidFill>
                  <a:srgbClr val="5C5B54"/>
                </a:solidFill>
                <a:latin typeface="Calibri"/>
              </a:rPr>
              <a:t>gNB's own virtual queues.</a:t>
            </a:r>
            <a:r>
              <a:rPr sz="1700" b="0">
                <a:solidFill>
                  <a:srgbClr val="5C5B54"/>
                </a:solidFill>
                <a:latin typeface="Calibri"/>
              </a:rPr>
              <a:t> In the uplink no gNB may do that.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697480"/>
          <a:ext cx="8778237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2505"/>
                <a:gridCol w="933855"/>
                <a:gridCol w="933855"/>
                <a:gridCol w="1214011"/>
                <a:gridCol w="1214011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1A19"/>
                          </a:solidFill>
                          <a:latin typeface="Calibri"/>
                        </a:rPr>
                        <a:t>Mixed-flow UE (GBR video + best-effort)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A1A19"/>
                          </a:solidFill>
                          <a:latin typeface="Calibri"/>
                        </a:rPr>
                        <a:t>RR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A1A19"/>
                          </a:solidFill>
                          <a:latin typeface="Calibri"/>
                        </a:rPr>
                        <a:t>PF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A1A19"/>
                          </a:solidFill>
                          <a:latin typeface="Calibri"/>
                        </a:rPr>
                        <a:t>Gradient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A1A19"/>
                          </a:solidFill>
                          <a:latin typeface="Calibri"/>
                        </a:rPr>
                        <a:t>Two-tier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Scheduler fills the block  (what we had)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53%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UE fills the block  (TS 38.321 §5.4.3.1)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83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83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72%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4114800"/>
            <a:ext cx="10545775" cy="141732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50800" cy="1417320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242816"/>
            <a:ext cx="10088575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9"/>
                </a:solidFill>
                <a:latin typeface="Calibri"/>
              </a:rPr>
              <a:t>We had described the top row as a clean demonstration of QoS-aware multiplexing. </a:t>
            </a:r>
            <a:r>
              <a:rPr sz="1600" b="1">
                <a:solidFill>
                  <a:srgbClr val="1A1A19"/>
                </a:solidFill>
                <a:latin typeface="Calibri"/>
              </a:rPr>
              <a:t>It was the UE's prioritised-bit-rate configuration all along</a:t>
            </a:r>
            <a:r>
              <a:rPr sz="1600" b="0">
                <a:solidFill>
                  <a:srgbClr val="1A1A19"/>
                </a:solidFill>
                <a:latin typeface="Calibri"/>
              </a:rPr>
              <a:t> — available to every scheduler. Correcting it also raised PF's contract count at 0.50x load from 5/10 to 8/10.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71500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A8980"/>
                </a:solidFill>
                <a:latin typeface="Calibri"/>
              </a:rPr>
              <a:t>The gNB grants a block; the UE splits it by its own logical-channel prioritisation. The gNB configures the PBRs but never learns the split.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8A8980"/>
                </a:solidFill>
                <a:latin typeface="Calibri"/>
              </a:rPr>
              <a:t>SHORTCUTS 2 AND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13816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A19"/>
                </a:solidFill>
                <a:latin typeface="Calibri"/>
              </a:rPr>
              <a:t>Two more, and what they have in common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0545775" cy="15875"/>
          </a:xfrm>
          <a:prstGeom prst="rect">
            <a:avLst/>
          </a:prstGeom>
          <a:solidFill>
            <a:srgbClr val="DD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B6834"/>
                </a:solidFill>
                <a:latin typeface="Calibri"/>
              </a:rPr>
              <a:t>Flows shared a priority level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C5B54"/>
                </a:solidFill>
                <a:latin typeface="Calibri"/>
              </a:rPr>
              <a:t>With every flow at one priority, the multiplexer's sort silently fell back to the order flows appear in the config file. Results were reproducible only by accident.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8A8980"/>
                </a:solidFill>
                <a:latin typeface="Calibri"/>
              </a:rPr>
              <a:t>Deriving priority from the standardised 5QI fixed it — and the numbers did not change, which is exactly why this class of error survives testing.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737360"/>
            <a:ext cx="4846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B6834"/>
                </a:solidFill>
                <a:latin typeface="Calibri"/>
              </a:rPr>
              <a:t>Tier-1 was handed the true offered load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C5B54"/>
                </a:solidFill>
                <a:latin typeface="Calibri"/>
              </a:rPr>
              <a:t>Read straight from the traffic generator: exact, noise-free, static. No gNB has that.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8A8980"/>
                </a:solidFill>
                <a:latin typeface="Calibri"/>
              </a:rPr>
              <a:t>Estimating it instead produced a starvation lock-in — a starved flow's data ages out, so it stops appearing in the arrival count. The flow never stopped asking; we stopped counting.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206240"/>
            <a:ext cx="10545775" cy="196596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206240"/>
            <a:ext cx="50800" cy="19659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334256"/>
            <a:ext cx="10088575" cy="1709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9"/>
                </a:solidFill>
                <a:latin typeface="Calibri"/>
              </a:rPr>
              <a:t>All three gave the scheduler information or authority the 3GPP split does not grant it. </a:t>
            </a:r>
            <a:r>
              <a:rPr sz="1600" b="1">
                <a:solidFill>
                  <a:srgbClr val="1A1A19"/>
                </a:solidFill>
                <a:latin typeface="Calibri"/>
              </a:rPr>
              <a:t>All three flattered the scheduler, not the baselines</a:t>
            </a:r>
            <a:r>
              <a:rPr sz="1600" b="0">
                <a:solidFill>
                  <a:srgbClr val="1A1A19"/>
                </a:solidFill>
                <a:latin typeface="Calibri"/>
              </a:rPr>
              <a:t> — which is not coincidence: a simulator is written from the scheduler's point of view, so its conveniences accrue there.
The check we now apply: for every quantity the scheduler reads — </a:t>
            </a:r>
            <a:r>
              <a:rPr sz="1600" b="1">
                <a:solidFill>
                  <a:srgbClr val="1A1A19"/>
                </a:solidFill>
                <a:latin typeface="Calibri"/>
              </a:rPr>
              <a:t>which network element learns this, and how?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8A8980"/>
                </a:solidFill>
                <a:latin typeface="Calibri"/>
              </a:rP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13816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A19"/>
                </a:solidFill>
                <a:latin typeface="Calibri"/>
              </a:rPr>
              <a:t>So: adopt it — and do not build a fallback to PF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0545775" cy="15875"/>
          </a:xfrm>
          <a:prstGeom prst="rect">
            <a:avLst/>
          </a:prstGeom>
          <a:solidFill>
            <a:srgbClr val="DD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5394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008300"/>
                </a:solidFill>
                <a:latin typeface="Calibri"/>
              </a:rPr>
              <a:t>Two wins are unconditional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600" b="0">
                <a:solidFill>
                  <a:srgbClr val="5C5B54"/>
                </a:solidFill>
                <a:latin typeface="Calibri"/>
              </a:rPr>
              <a:t>Configured grants and the deadline-aware tracker address capabilities PF lacks entirely. Both survived every fidelity correction untouched — neither scenario has a multi-flow uplink UE.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B6834"/>
                </a:solidFill>
                <a:latin typeface="Calibri"/>
              </a:rPr>
              <a:t>One metric loss, and it is a metric choice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C5B54"/>
                </a:solidFill>
                <a:latin typeface="Calibri"/>
              </a:rPr>
              <a:t>Under GBR infeasibility a threshold count prefers concentration. We measured whether a knob recovers it: sweeping the max-min floor from 1 to 0 moves contracts only 1/10 → 2/10, against PF's 6/10. It does not.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737360"/>
            <a:ext cx="4846320" cy="265176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92240" y="1737360"/>
            <a:ext cx="50800" cy="2651760"/>
          </a:xfrm>
          <a:prstGeom prst="rect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865376"/>
            <a:ext cx="4389120" cy="239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9"/>
                </a:solidFill>
                <a:latin typeface="Calibri"/>
              </a:rPr>
              <a:t>A scheduler-level switch to PF is the </a:t>
            </a:r>
            <a:r>
              <a:rPr sz="1600" b="1">
                <a:solidFill>
                  <a:srgbClr val="1A1A19"/>
                </a:solidFill>
                <a:latin typeface="Calibri"/>
              </a:rPr>
              <a:t>wrong instrument</a:t>
            </a:r>
            <a:r>
              <a:rPr sz="1600" b="0">
                <a:solidFill>
                  <a:srgbClr val="1A1A19"/>
                </a:solidFill>
                <a:latin typeface="Calibri"/>
              </a:rPr>
              <a:t> — it would surrender configured grants and deadline awareness to improve one metric on one flow class.
Only the max-min floor is regime-dependent. It is a continuous knob, and Tier-1 already computes an </a:t>
            </a:r>
            <a:r>
              <a:rPr sz="1600" b="1">
                <a:solidFill>
                  <a:srgbClr val="1A1A19"/>
                </a:solidFill>
                <a:latin typeface="Calibri"/>
              </a:rPr>
              <a:t>exact feasibility test</a:t>
            </a:r>
            <a:r>
              <a:rPr sz="1600" b="0">
                <a:solidFill>
                  <a:srgbClr val="1A1A19"/>
                </a:solidFill>
                <a:latin typeface="Calibri"/>
              </a:rPr>
              <a:t> — so degradation can be graceful, with no regime guessing.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5C5B54"/>
                </a:solidFill>
                <a:latin typeface="Calibri"/>
              </a:rPr>
              <a:t>And detection is not needed for safety: with the floor off, the design leads PF on mean and worst-case delivery at both loaded points while keeping both structural wins.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8A8980"/>
                </a:solidFill>
                <a:latin typeface="Calibri"/>
              </a:rPr>
              <a:t>IN 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13816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A19"/>
                </a:solidFill>
                <a:latin typeface="Calibri"/>
              </a:rPr>
              <a:t>What this is, and what it is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0545775" cy="15875"/>
          </a:xfrm>
          <a:prstGeom prst="rect">
            <a:avLst/>
          </a:prstGeom>
          <a:solidFill>
            <a:srgbClr val="DD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008300"/>
                </a:solidFill>
                <a:latin typeface="Calibri"/>
              </a:rPr>
              <a:t>What we offer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C5B54"/>
                </a:solidFill>
                <a:latin typeface="Calibri"/>
              </a:rPr>
              <a:t>• Independent reproduction of two results, in a simulator sharing no code with the work that first reported them.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C5B54"/>
                </a:solidFill>
                <a:latin typeface="Calibri"/>
              </a:rPr>
              <a:t>• Three fidelity corrections, each with the measurement it changed.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C5B54"/>
                </a:solidFill>
                <a:latin typeface="Calibri"/>
              </a:rPr>
              <a:t>• An adoption decision with its reasoning, not just its verdict.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C5B54"/>
                </a:solidFill>
                <a:latin typeface="Calibri"/>
              </a:rPr>
              <a:t>• Simulator, scheduler library and one script per result 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783080"/>
            <a:ext cx="4846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8A8980"/>
                </a:solidFill>
                <a:latin typeface="Calibri"/>
              </a:rPr>
              <a:t>What we do not claim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C5B54"/>
                </a:solidFill>
                <a:latin typeface="Calibri"/>
              </a:rPr>
              <a:t>• Novelty for the design. It composes known parts.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C5B54"/>
                </a:solidFill>
                <a:latin typeface="Calibri"/>
              </a:rPr>
              <a:t>• Silicon. This is simulation; comparative, not absolute. An OAI integration is the next step and is under way.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C5B54"/>
                </a:solidFill>
                <a:latin typeface="Calibri"/>
              </a:rPr>
              <a:t>• External validity beyond three synthetic single-cell scenarios — no churn, no mobility, no inter-cell interference.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349240"/>
            <a:ext cx="10545775" cy="123444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349240"/>
            <a:ext cx="50800" cy="1234440"/>
          </a:xfrm>
          <a:prstGeom prst="rect">
            <a:avLst/>
          </a:prstGeom>
          <a:solidFill>
            <a:srgbClr val="8A8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477256"/>
            <a:ext cx="10088575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9"/>
                </a:solidFill>
                <a:latin typeface="Calibri"/>
              </a:rPr>
              <a:t>The remaining unmodelled effects we know of — uplink grant timing, HARQ retransmissions consuming PRBs — would </a:t>
            </a:r>
            <a:r>
              <a:rPr sz="1600" b="1">
                <a:solidFill>
                  <a:srgbClr val="1A1A19"/>
                </a:solidFill>
                <a:latin typeface="Calibri"/>
              </a:rPr>
              <a:t>widen</a:t>
            </a:r>
            <a:r>
              <a:rPr sz="1600" b="0">
                <a:solidFill>
                  <a:srgbClr val="1A1A19"/>
                </a:solidFill>
                <a:latin typeface="Calibri"/>
              </a:rPr>
              <a:t> the configured-grant advantage, not narrow it. Though after the last three slides, we note that is asserted from mechanism, not measured.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